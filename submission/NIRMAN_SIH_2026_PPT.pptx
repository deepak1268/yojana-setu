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crRGoCKmfeAyrRvFNjUatwllY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3" Type="http://schemas.openxmlformats.org/officeDocument/2006/relationships/image" Target="../media/image7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deepak1268/yojana-setu" TargetMode="External"/><Relationship Id="rId10" Type="http://schemas.openxmlformats.org/officeDocument/2006/relationships/hyperlink" Target="https://www.financialservices.gov.in/jansamarth" TargetMode="External"/><Relationship Id="rId13" Type="http://schemas.openxmlformats.org/officeDocument/2006/relationships/image" Target="../media/image23.jp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www.myscheme.gov.in/" TargetMode="External"/><Relationship Id="rId9" Type="http://schemas.openxmlformats.org/officeDocument/2006/relationships/hyperlink" Target="https://pmvishwakarma.gov.in/" TargetMode="External"/><Relationship Id="rId14" Type="http://schemas.openxmlformats.org/officeDocument/2006/relationships/image" Target="../media/image22.png"/><Relationship Id="rId5" Type="http://schemas.openxmlformats.org/officeDocument/2006/relationships/hyperlink" Target="https://nsfdc.nic.in/" TargetMode="External"/><Relationship Id="rId6" Type="http://schemas.openxmlformats.org/officeDocument/2006/relationships/hyperlink" Target="https://indianjournals.com/article/tsi-5-1and2-010" TargetMode="External"/><Relationship Id="rId7" Type="http://schemas.openxmlformats.org/officeDocument/2006/relationships/hyperlink" Target="https://indianjournals.com/article/tsi-5-1and2-010" TargetMode="External"/><Relationship Id="rId8" Type="http://schemas.openxmlformats.org/officeDocument/2006/relationships/hyperlink" Target="https://financialservices.gov.in/stand-india-scheme-supi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437516" y="255903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150311" y="-555332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59850" y="1210050"/>
            <a:ext cx="79092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26092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US" sz="2400">
                <a:solidFill>
                  <a:schemeClr val="dk1"/>
                </a:solidFill>
              </a:rPr>
              <a:t>AI-Driv</a:t>
            </a:r>
            <a:r>
              <a:rPr lang="en-US" sz="2400">
                <a:solidFill>
                  <a:schemeClr val="dk1"/>
                </a:solidFill>
              </a:rPr>
              <a:t>en Scheme matching for Marginalized Entrepreneurs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400">
                <a:solidFill>
                  <a:schemeClr val="dk1"/>
                </a:solidFill>
              </a:rPr>
              <a:t>Smart Automation 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400">
                <a:solidFill>
                  <a:schemeClr val="dk1"/>
                </a:solidFill>
              </a:rPr>
              <a:t>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400">
                <a:solidFill>
                  <a:schemeClr val="dk1"/>
                </a:solidFill>
              </a:rPr>
              <a:t>- </a:t>
            </a:r>
            <a:r>
              <a:rPr lang="en-US" sz="2400">
                <a:solidFill>
                  <a:schemeClr val="dk1"/>
                </a:solidFill>
              </a:rPr>
              <a:t>Nirman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221873" y="-1884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YOJANA - SETU</a:t>
            </a:r>
            <a:endParaRPr/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9473" l="3068" r="2823" t="20045"/>
          <a:stretch/>
        </p:blipFill>
        <p:spPr>
          <a:xfrm>
            <a:off x="114975" y="3293150"/>
            <a:ext cx="4394826" cy="30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14246" l="2095" r="0" t="20072"/>
          <a:stretch/>
        </p:blipFill>
        <p:spPr>
          <a:xfrm>
            <a:off x="7192350" y="3043925"/>
            <a:ext cx="4999651" cy="3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14975" y="1087813"/>
            <a:ext cx="63273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THE FRAGMENTED JOURNEY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01 — Scattered Information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Government schemes are spread across multiple sources.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02 — Complex Eligibility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Different criteria make it difficult to know what you qualify for.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03 — Unclear Financial Choices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Loan, EMI and repayment options can be difficult to understand.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04 — Partner Discovery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Finding the right channel partner can be challenging.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046550" y="1063825"/>
            <a:ext cx="36318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         </a:t>
            </a:r>
            <a:r>
              <a:rPr b="1" lang="en-US" sz="1100">
                <a:solidFill>
                  <a:schemeClr val="dk1"/>
                </a:solidFill>
              </a:rPr>
              <a:t>ONE PLATFORM. EVERY STEP.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AI-powered scheme discovery, eligibility verification, personalized recommendations, financial guidance, and partner matching — all in one platform, helping citizens find the right government financial support and take the next step with confidence.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4114575" y="3553775"/>
            <a:ext cx="33012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That's where Yojana-Setu comes in.</a:t>
            </a:r>
            <a:r>
              <a:rPr lang="en-US" sz="1200">
                <a:solidFill>
                  <a:schemeClr val="dk1"/>
                </a:solidFill>
              </a:rPr>
              <a:t> It is a unified web platform that simplifies the journey to government financial support by bringing scheme discovery, eligibility verification, personalized recommendations, financial guidance, and partner matching into one seamless experience.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6">
            <a:alphaModFix/>
          </a:blip>
          <a:srcRect b="0" l="0" r="0" t="2410"/>
          <a:stretch/>
        </p:blipFill>
        <p:spPr>
          <a:xfrm>
            <a:off x="4229325" y="1087825"/>
            <a:ext cx="3733352" cy="2232276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10" name="Google Shape;110;p2"/>
          <p:cNvSpPr/>
          <p:nvPr/>
        </p:nvSpPr>
        <p:spPr>
          <a:xfrm>
            <a:off x="83250" y="178275"/>
            <a:ext cx="1646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Nirmaan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8" name="Google Shape;118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9" name="Google Shape;119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11156" l="0" r="1507" t="12694"/>
          <a:stretch/>
        </p:blipFill>
        <p:spPr>
          <a:xfrm>
            <a:off x="266700" y="1171575"/>
            <a:ext cx="7221924" cy="47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8747750" y="1095375"/>
            <a:ext cx="22956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Tech Stack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644525" y="1822000"/>
            <a:ext cx="4385400" cy="42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Frontend:-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Backend:-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5">
            <a:alphaModFix/>
          </a:blip>
          <a:srcRect b="0" l="0" r="14185" t="0"/>
          <a:stretch/>
        </p:blipFill>
        <p:spPr>
          <a:xfrm>
            <a:off x="9612425" y="3871249"/>
            <a:ext cx="1969975" cy="1662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3956" y="2413550"/>
            <a:ext cx="567145" cy="5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96262" y="2509850"/>
            <a:ext cx="1517800" cy="31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8">
            <a:alphaModFix/>
          </a:blip>
          <a:srcRect b="0" l="10145" r="0" t="44209"/>
          <a:stretch/>
        </p:blipFill>
        <p:spPr>
          <a:xfrm>
            <a:off x="8035150" y="4503788"/>
            <a:ext cx="1179900" cy="5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89887" y="5211802"/>
            <a:ext cx="1070428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60315" y="3258476"/>
            <a:ext cx="803385" cy="8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41526" y="3653886"/>
            <a:ext cx="567150" cy="56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503313" y="2260663"/>
            <a:ext cx="803375" cy="8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286425" y="2461700"/>
            <a:ext cx="678150" cy="4069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33" name="Google Shape;133;p3"/>
          <p:cNvSpPr/>
          <p:nvPr/>
        </p:nvSpPr>
        <p:spPr>
          <a:xfrm>
            <a:off x="83250" y="178275"/>
            <a:ext cx="1646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Nirmaan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41" name="Google Shape;141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4150" y="1095375"/>
            <a:ext cx="4948275" cy="480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5">
            <a:alphaModFix/>
          </a:blip>
          <a:srcRect b="6289" l="0" r="1098" t="9522"/>
          <a:stretch/>
        </p:blipFill>
        <p:spPr>
          <a:xfrm>
            <a:off x="329775" y="1276175"/>
            <a:ext cx="6051051" cy="4405976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46" name="Google Shape;146;p4"/>
          <p:cNvSpPr/>
          <p:nvPr/>
        </p:nvSpPr>
        <p:spPr>
          <a:xfrm>
            <a:off x="83250" y="178275"/>
            <a:ext cx="1646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Nirmaan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54" name="Google Shape;15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 title="Impacts.png"/>
          <p:cNvPicPr preferRelativeResize="0"/>
          <p:nvPr/>
        </p:nvPicPr>
        <p:blipFill rotWithShape="1">
          <a:blip r:embed="rId4">
            <a:alphaModFix/>
          </a:blip>
          <a:srcRect b="0" l="0" r="0" t="9902"/>
          <a:stretch/>
        </p:blipFill>
        <p:spPr>
          <a:xfrm>
            <a:off x="866650" y="1652300"/>
            <a:ext cx="5229350" cy="441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 title="ChatGPT Image Sep 10, 2026, 09_49_44 PM.png"/>
          <p:cNvPicPr preferRelativeResize="0"/>
          <p:nvPr/>
        </p:nvPicPr>
        <p:blipFill rotWithShape="1">
          <a:blip r:embed="rId5">
            <a:alphaModFix/>
          </a:blip>
          <a:srcRect b="0" l="0" r="0" t="18247"/>
          <a:stretch/>
        </p:blipFill>
        <p:spPr>
          <a:xfrm>
            <a:off x="6326700" y="3683650"/>
            <a:ext cx="5791201" cy="214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 title="ChatGPT Image Sep 10, 2026, 10_12_23 PM.png"/>
          <p:cNvPicPr preferRelativeResize="0"/>
          <p:nvPr/>
        </p:nvPicPr>
        <p:blipFill rotWithShape="1">
          <a:blip r:embed="rId6">
            <a:alphaModFix/>
          </a:blip>
          <a:srcRect b="0" l="0" r="0" t="19511"/>
          <a:stretch/>
        </p:blipFill>
        <p:spPr>
          <a:xfrm>
            <a:off x="6606725" y="1597387"/>
            <a:ext cx="5075652" cy="15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1679538" y="931225"/>
            <a:ext cx="523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Impacts of Yojana-Setu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852200" y="931225"/>
            <a:ext cx="434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Benefits of Yojana-Setu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8002250" y="3100475"/>
            <a:ext cx="431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Why Yojana-Setu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3" name="Google Shape;163;p5"/>
          <p:cNvSpPr/>
          <p:nvPr/>
        </p:nvSpPr>
        <p:spPr>
          <a:xfrm>
            <a:off x="83250" y="178275"/>
            <a:ext cx="1646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Nirmaan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73" name="Google Shape;173;p6"/>
          <p:cNvSpPr/>
          <p:nvPr/>
        </p:nvSpPr>
        <p:spPr>
          <a:xfrm>
            <a:off x="83250" y="178275"/>
            <a:ext cx="1646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Nirmaan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/>
          <p:nvPr/>
        </p:nvSpPr>
        <p:spPr>
          <a:xfrm>
            <a:off x="782875" y="1095375"/>
            <a:ext cx="473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52525"/>
                </a:solidFill>
              </a:rPr>
              <a:t>– </a:t>
            </a:r>
            <a:r>
              <a:rPr b="1" lang="en-US">
                <a:solidFill>
                  <a:srgbClr val="252525"/>
                </a:solidFill>
              </a:rPr>
              <a:t>Government Schemes and benefits</a:t>
            </a:r>
            <a:r>
              <a:rPr lang="en-US">
                <a:solidFill>
                  <a:srgbClr val="252525"/>
                </a:solidFill>
              </a:rPr>
              <a:t> </a:t>
            </a:r>
            <a:r>
              <a:rPr b="1" lang="en-US">
                <a:solidFill>
                  <a:srgbClr val="252525"/>
                </a:solidFill>
              </a:rPr>
              <a:t>: </a:t>
            </a: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myScheme – Government of India</a:t>
            </a:r>
            <a:r>
              <a:rPr lang="en-US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782875" y="1746763"/>
            <a:ext cx="447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– SC-specific financial assistance</a:t>
            </a:r>
            <a:r>
              <a:rPr lang="en-US"/>
              <a:t> </a:t>
            </a:r>
            <a:r>
              <a:rPr b="1" lang="en-US"/>
              <a:t>:</a:t>
            </a:r>
            <a:r>
              <a:rPr lang="en-US"/>
              <a:t> </a:t>
            </a:r>
            <a:r>
              <a:rPr lang="en-US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NSFDC – National Scheduled Castes Finance and Development Corporation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782875" y="2578075"/>
            <a:ext cx="375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– </a:t>
            </a:r>
            <a:r>
              <a:rPr b="1" lang="en-US">
                <a:solidFill>
                  <a:schemeClr val="dk1"/>
                </a:solidFill>
              </a:rPr>
              <a:t>Lack of Awareness of Government Schemes among SC Beneficiaries: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Welfare schemes for Scheduled Castes</a:t>
            </a:r>
            <a:r>
              <a:rPr lang="en-US">
                <a:solidFill>
                  <a:schemeClr val="dk1"/>
                </a:solidFill>
              </a:rPr>
              <a:t> </a:t>
            </a:r>
            <a:endParaRPr sz="1700"/>
          </a:p>
        </p:txBody>
      </p:sp>
      <p:sp>
        <p:nvSpPr>
          <p:cNvPr id="178" name="Google Shape;178;p6"/>
          <p:cNvSpPr txBox="1"/>
          <p:nvPr/>
        </p:nvSpPr>
        <p:spPr>
          <a:xfrm>
            <a:off x="782875" y="3470825"/>
            <a:ext cx="334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– SC/ST entrepreneurship financing :</a:t>
            </a:r>
            <a:r>
              <a:rPr lang="en-US"/>
              <a:t> </a:t>
            </a:r>
            <a:r>
              <a:rPr lang="en-US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Stand-Up India – Government of India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762800" y="40864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– </a:t>
            </a:r>
            <a:r>
              <a:rPr b="1" lang="en-US">
                <a:solidFill>
                  <a:schemeClr val="dk1"/>
                </a:solidFill>
              </a:rPr>
              <a:t>Used to study government support for self employment , skill development 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 Vishwakarma – Government of India</a:t>
            </a:r>
            <a:r>
              <a:rPr lang="en-US">
                <a:solidFill>
                  <a:schemeClr val="dk1"/>
                </a:solidFill>
              </a:rPr>
              <a:t> </a:t>
            </a:r>
            <a:endParaRPr sz="1700"/>
          </a:p>
        </p:txBody>
      </p:sp>
      <p:sp>
        <p:nvSpPr>
          <p:cNvPr id="180" name="Google Shape;180;p6"/>
          <p:cNvSpPr txBox="1"/>
          <p:nvPr/>
        </p:nvSpPr>
        <p:spPr>
          <a:xfrm>
            <a:off x="762800" y="5298488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– </a:t>
            </a:r>
            <a:r>
              <a:rPr b="1" lang="en-US">
                <a:solidFill>
                  <a:schemeClr val="dk1"/>
                </a:solidFill>
              </a:rPr>
              <a:t>JanSamarth – National Portal for Credit-Linked Government Schemes: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financialservices.gov.in/jansamarth</a:t>
            </a:r>
            <a:r>
              <a:rPr lang="en-US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5915375" y="1205100"/>
            <a:ext cx="58047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Project Links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Github Repo:- </a:t>
            </a:r>
            <a:r>
              <a:rPr lang="en-US" sz="1600" u="sng">
                <a:solidFill>
                  <a:schemeClr val="dk1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https://github.com/deepak1268/yojana-setu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Youtube Vid</a:t>
            </a:r>
            <a:r>
              <a:rPr b="1" lang="en-US" sz="1600">
                <a:solidFill>
                  <a:schemeClr val="dk1"/>
                </a:solidFill>
              </a:rPr>
              <a:t>eo</a:t>
            </a:r>
            <a:r>
              <a:rPr b="1" lang="en-US" sz="1600">
                <a:solidFill>
                  <a:schemeClr val="dk1"/>
                </a:solidFill>
              </a:rPr>
              <a:t>:- </a:t>
            </a:r>
            <a:r>
              <a:rPr lang="en-US" sz="1600" u="sng">
                <a:solidFill>
                  <a:schemeClr val="dk1"/>
                </a:solidFill>
              </a:rPr>
              <a:t>https://youtu.be/eMVt-i6nTjE</a:t>
            </a:r>
            <a:endParaRPr sz="16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Live Demo:- </a:t>
            </a:r>
            <a:r>
              <a:rPr lang="en-US" sz="1600" u="sng">
                <a:solidFill>
                  <a:schemeClr val="dk1"/>
                </a:solidFill>
              </a:rPr>
              <a:t>https://yojana-setu-chi.vercel.app/</a:t>
            </a:r>
            <a:endParaRPr sz="1600" u="sng">
              <a:solidFill>
                <a:schemeClr val="dk1"/>
              </a:solidFill>
            </a:endParaRPr>
          </a:p>
        </p:txBody>
      </p:sp>
      <p:pic>
        <p:nvPicPr>
          <p:cNvPr id="182" name="Google Shape;182;p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76076" y="3149433"/>
            <a:ext cx="3204001" cy="1531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48200" y="4649398"/>
            <a:ext cx="3451876" cy="15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100075" y="4681125"/>
            <a:ext cx="3203998" cy="1675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